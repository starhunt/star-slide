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9562" y="1985962"/>
            <a:ext cx="8701087" cy="1228725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B8D5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9562" y="4752975"/>
            <a:ext cx="8701087" cy="11811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F1D4B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09562" y="3457575"/>
            <a:ext cx="8024812" cy="1071562"/>
          </a:xfrm>
          <a:prstGeom prst="roundRect">
            <a:avLst/>
          </a:prstGeom>
          <a:solidFill>
            <a:srgbClr val="F8FCFF"/>
          </a:solidFill>
          <a:ln w="19050">
            <a:solidFill>
              <a:srgbClr val="B8D5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09562" y="862012"/>
            <a:ext cx="8701087" cy="862012"/>
          </a:xfrm>
          <a:prstGeom prst="roundRect">
            <a:avLst/>
          </a:prstGeom>
          <a:solidFill>
            <a:srgbClr val="F7FFFF"/>
          </a:solidFill>
          <a:ln w="19050">
            <a:solidFill>
              <a:srgbClr val="B7DC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415462" y="666750"/>
            <a:ext cx="2462212" cy="2633662"/>
          </a:xfrm>
          <a:prstGeom prst="ellipse">
            <a:avLst/>
          </a:prstGeom>
          <a:gradFill rotWithShape="1">
            <a:gsLst>
              <a:gs pos="0">
                <a:srgbClr val="00B3A5"/>
              </a:gs>
              <a:gs pos="100000">
                <a:srgbClr val="0065C9"/>
              </a:gs>
            </a:gsLst>
            <a:lin ang="5400000" scaled="0"/>
          </a:gradFill>
          <a:ln w="142875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525000" y="3562350"/>
            <a:ext cx="2324100" cy="2381250"/>
          </a:xfrm>
          <a:prstGeom prst="roundRect">
            <a:avLst/>
          </a:prstGeom>
          <a:solidFill>
            <a:srgbClr val="F7FFFF"/>
          </a:solidFill>
          <a:ln w="19050">
            <a:solidFill>
              <a:srgbClr val="B7DCE2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09562" y="6157912"/>
            <a:ext cx="8701087" cy="48101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3D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8320087" y="3762375"/>
            <a:ext cx="952500" cy="466725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505075" y="2843212"/>
            <a:ext cx="1243012" cy="223837"/>
          </a:xfrm>
          <a:prstGeom prst="roundRect">
            <a:avLst/>
          </a:prstGeom>
          <a:gradFill rotWithShape="1">
            <a:gsLst>
              <a:gs pos="0">
                <a:srgbClr val="00B0A4"/>
              </a:gs>
              <a:gs pos="100000">
                <a:srgbClr val="008E9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10287" y="2843212"/>
            <a:ext cx="1223962" cy="223837"/>
          </a:xfrm>
          <a:prstGeom prst="roundRect">
            <a:avLst/>
          </a:prstGeom>
          <a:gradFill rotWithShape="1">
            <a:gsLst>
              <a:gs pos="0">
                <a:srgbClr val="00B0A4"/>
              </a:gs>
              <a:gs pos="100000">
                <a:srgbClr val="008E9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525000" y="3562350"/>
            <a:ext cx="85725" cy="2381250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09562" y="1985962"/>
            <a:ext cx="85725" cy="1228725"/>
          </a:xfrm>
          <a:prstGeom prst="roundRect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09562" y="4752975"/>
            <a:ext cx="85725" cy="1181100"/>
          </a:xfrm>
          <a:prstGeom prst="roundRect">
            <a:avLst/>
          </a:prstGeom>
          <a:solidFill>
            <a:srgbClr val="F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09562" y="3457575"/>
            <a:ext cx="85725" cy="1071562"/>
          </a:xfrm>
          <a:prstGeom prst="roundRect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09562" y="862012"/>
            <a:ext cx="85725" cy="862012"/>
          </a:xfrm>
          <a:prstGeom prst="roundRect">
            <a:avLst/>
          </a:prstGeom>
          <a:solidFill>
            <a:srgbClr val="00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2295525" y="1762125"/>
            <a:ext cx="142875" cy="176212"/>
          </a:xfrm>
          <a:prstGeom prst="rightArrow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3790950" y="1762125"/>
            <a:ext cx="142875" cy="176212"/>
          </a:xfrm>
          <a:prstGeom prst="rightArrow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5276850" y="1762125"/>
            <a:ext cx="142875" cy="176212"/>
          </a:xfrm>
          <a:prstGeom prst="rightArrow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6677025" y="1762125"/>
            <a:ext cx="142875" cy="176212"/>
          </a:xfrm>
          <a:prstGeom prst="rightArrow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8101012" y="1762125"/>
            <a:ext cx="142875" cy="176212"/>
          </a:xfrm>
          <a:prstGeom prst="rightArrow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2295525" y="32385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ight Arrow 23"/>
          <p:cNvSpPr/>
          <p:nvPr/>
        </p:nvSpPr>
        <p:spPr>
          <a:xfrm>
            <a:off x="3790950" y="32385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ight Arrow 24"/>
          <p:cNvSpPr/>
          <p:nvPr/>
        </p:nvSpPr>
        <p:spPr>
          <a:xfrm>
            <a:off x="5286375" y="32385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6677025" y="32385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ight Arrow 26"/>
          <p:cNvSpPr/>
          <p:nvPr/>
        </p:nvSpPr>
        <p:spPr>
          <a:xfrm>
            <a:off x="2295525" y="45339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ight Arrow 27"/>
          <p:cNvSpPr/>
          <p:nvPr/>
        </p:nvSpPr>
        <p:spPr>
          <a:xfrm>
            <a:off x="3790950" y="45339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ight Arrow 28"/>
          <p:cNvSpPr/>
          <p:nvPr/>
        </p:nvSpPr>
        <p:spPr>
          <a:xfrm>
            <a:off x="5286375" y="4533900"/>
            <a:ext cx="142875" cy="176212"/>
          </a:xfrm>
          <a:prstGeom prst="rightArrow">
            <a:avLst/>
          </a:prstGeom>
          <a:solidFill>
            <a:srgbClr val="09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31006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40531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50056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00576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10101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96262" y="2586037"/>
            <a:ext cx="38100" cy="38100"/>
          </a:xfrm>
          <a:prstGeom prst="ellipse">
            <a:avLst/>
          </a:prstGeom>
          <a:solidFill>
            <a:srgbClr val="078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276850" y="2081212"/>
            <a:ext cx="3052762" cy="1052512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A79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1704975" y="2076450"/>
            <a:ext cx="2952750" cy="1052512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A79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681162" y="3571875"/>
            <a:ext cx="2085975" cy="819150"/>
          </a:xfrm>
          <a:prstGeom prst="roundRect">
            <a:avLst/>
          </a:prstGeom>
          <a:gradFill rotWithShape="1">
            <a:gsLst>
              <a:gs pos="0">
                <a:srgbClr val="00B3A5"/>
              </a:gs>
              <a:gs pos="100000">
                <a:srgbClr val="008D98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890962" y="3571875"/>
            <a:ext cx="1962150" cy="819150"/>
          </a:xfrm>
          <a:prstGeom prst="roundRect">
            <a:avLst/>
          </a:prstGeom>
          <a:gradFill rotWithShape="1">
            <a:gsLst>
              <a:gs pos="0">
                <a:srgbClr val="116FD0"/>
              </a:gs>
              <a:gs pos="100000">
                <a:srgbClr val="005DB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991225" y="3571875"/>
            <a:ext cx="1962150" cy="819150"/>
          </a:xfrm>
          <a:prstGeom prst="roundRect">
            <a:avLst/>
          </a:prstGeom>
          <a:gradFill rotWithShape="1">
            <a:gsLst>
              <a:gs pos="0">
                <a:srgbClr val="082B5D"/>
              </a:gs>
              <a:gs pos="100000">
                <a:srgbClr val="031B3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462087" y="4843462"/>
            <a:ext cx="1147762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038600" y="4843462"/>
            <a:ext cx="1128712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771775" y="4843462"/>
            <a:ext cx="1104900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5338762" y="4843462"/>
            <a:ext cx="1095375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600825" y="4843462"/>
            <a:ext cx="1081087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7843837" y="4843462"/>
            <a:ext cx="1033462" cy="10048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picto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775" y="1500187"/>
            <a:ext cx="561975" cy="561975"/>
          </a:xfrm>
          <a:prstGeom prst="rect">
            <a:avLst/>
          </a:prstGeom>
        </p:spPr>
      </p:pic>
      <p:pic>
        <p:nvPicPr>
          <p:cNvPr id="48" name="Picture 47" descr="picto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62" y="4929187"/>
            <a:ext cx="576262" cy="438150"/>
          </a:xfrm>
          <a:prstGeom prst="rect">
            <a:avLst/>
          </a:prstGeom>
        </p:spPr>
      </p:pic>
      <p:pic>
        <p:nvPicPr>
          <p:cNvPr id="49" name="Picture 48" descr="picto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990600"/>
            <a:ext cx="504825" cy="438150"/>
          </a:xfrm>
          <a:prstGeom prst="rect">
            <a:avLst/>
          </a:prstGeom>
        </p:spPr>
      </p:pic>
      <p:pic>
        <p:nvPicPr>
          <p:cNvPr id="50" name="Picture 49" descr="picto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537" y="4962525"/>
            <a:ext cx="538162" cy="409575"/>
          </a:xfrm>
          <a:prstGeom prst="rect">
            <a:avLst/>
          </a:prstGeom>
        </p:spPr>
      </p:pic>
      <p:pic>
        <p:nvPicPr>
          <p:cNvPr id="51" name="Picture 50" descr="picto_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4953000"/>
            <a:ext cx="485775" cy="438150"/>
          </a:xfrm>
          <a:prstGeom prst="rect">
            <a:avLst/>
          </a:prstGeom>
        </p:spPr>
      </p:pic>
      <p:pic>
        <p:nvPicPr>
          <p:cNvPr id="52" name="Picture 51" descr="picto_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225" y="3714750"/>
            <a:ext cx="438150" cy="481012"/>
          </a:xfrm>
          <a:prstGeom prst="rect">
            <a:avLst/>
          </a:prstGeom>
        </p:spPr>
      </p:pic>
      <p:pic>
        <p:nvPicPr>
          <p:cNvPr id="53" name="Picture 52" descr="picto_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600" y="3714750"/>
            <a:ext cx="428625" cy="466725"/>
          </a:xfrm>
          <a:prstGeom prst="rect">
            <a:avLst/>
          </a:prstGeom>
        </p:spPr>
      </p:pic>
      <p:pic>
        <p:nvPicPr>
          <p:cNvPr id="54" name="Picture 53" descr="picto_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1187" y="4910137"/>
            <a:ext cx="390525" cy="509587"/>
          </a:xfrm>
          <a:prstGeom prst="rect">
            <a:avLst/>
          </a:prstGeom>
        </p:spPr>
      </p:pic>
      <p:pic>
        <p:nvPicPr>
          <p:cNvPr id="55" name="Picture 54" descr="picto_0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0287" y="3695700"/>
            <a:ext cx="385762" cy="500062"/>
          </a:xfrm>
          <a:prstGeom prst="rect">
            <a:avLst/>
          </a:prstGeom>
        </p:spPr>
      </p:pic>
      <p:pic>
        <p:nvPicPr>
          <p:cNvPr id="56" name="Picture 55" descr="picto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1975" y="4943475"/>
            <a:ext cx="404812" cy="466725"/>
          </a:xfrm>
          <a:prstGeom prst="rect">
            <a:avLst/>
          </a:prstGeom>
        </p:spPr>
      </p:pic>
      <p:pic>
        <p:nvPicPr>
          <p:cNvPr id="57" name="Picture 56" descr="picto_0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6575" y="4991100"/>
            <a:ext cx="504825" cy="366712"/>
          </a:xfrm>
          <a:prstGeom prst="rect">
            <a:avLst/>
          </a:prstGeom>
        </p:spPr>
      </p:pic>
      <p:pic>
        <p:nvPicPr>
          <p:cNvPr id="58" name="Picture 57" descr="picto_0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1412" y="952500"/>
            <a:ext cx="371475" cy="481012"/>
          </a:xfrm>
          <a:prstGeom prst="rect">
            <a:avLst/>
          </a:prstGeom>
        </p:spPr>
      </p:pic>
      <p:pic>
        <p:nvPicPr>
          <p:cNvPr id="59" name="Picture 58" descr="picto_0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0750" y="952500"/>
            <a:ext cx="357187" cy="476250"/>
          </a:xfrm>
          <a:prstGeom prst="rect">
            <a:avLst/>
          </a:prstGeom>
        </p:spPr>
      </p:pic>
      <p:pic>
        <p:nvPicPr>
          <p:cNvPr id="60" name="Picture 59" descr="picto_0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6062" y="966787"/>
            <a:ext cx="342900" cy="461962"/>
          </a:xfrm>
          <a:prstGeom prst="rect">
            <a:avLst/>
          </a:prstGeom>
        </p:spPr>
      </p:pic>
      <p:pic>
        <p:nvPicPr>
          <p:cNvPr id="61" name="Picture 60" descr="picto_0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1125" y="966787"/>
            <a:ext cx="338137" cy="457200"/>
          </a:xfrm>
          <a:prstGeom prst="rect">
            <a:avLst/>
          </a:prstGeom>
        </p:spPr>
      </p:pic>
      <p:pic>
        <p:nvPicPr>
          <p:cNvPr id="62" name="Picture 61" descr="picto_0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72650" y="3867150"/>
            <a:ext cx="300037" cy="223837"/>
          </a:xfrm>
          <a:prstGeom prst="rect">
            <a:avLst/>
          </a:prstGeom>
        </p:spPr>
      </p:pic>
      <p:pic>
        <p:nvPicPr>
          <p:cNvPr id="63" name="Picture 62" descr="picto_0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14525" y="2466975"/>
            <a:ext cx="242887" cy="276225"/>
          </a:xfrm>
          <a:prstGeom prst="rect">
            <a:avLst/>
          </a:prstGeom>
        </p:spPr>
      </p:pic>
      <p:pic>
        <p:nvPicPr>
          <p:cNvPr id="64" name="Picture 63" descr="picto_0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24100" y="2466975"/>
            <a:ext cx="242887" cy="276225"/>
          </a:xfrm>
          <a:prstGeom prst="rect">
            <a:avLst/>
          </a:prstGeom>
        </p:spPr>
      </p:pic>
      <p:pic>
        <p:nvPicPr>
          <p:cNvPr id="65" name="Picture 64" descr="picto_0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43200" y="2466975"/>
            <a:ext cx="242887" cy="276225"/>
          </a:xfrm>
          <a:prstGeom prst="rect">
            <a:avLst/>
          </a:prstGeom>
        </p:spPr>
      </p:pic>
      <p:pic>
        <p:nvPicPr>
          <p:cNvPr id="66" name="Picture 65" descr="picto_0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52775" y="2466975"/>
            <a:ext cx="242887" cy="276225"/>
          </a:xfrm>
          <a:prstGeom prst="rect">
            <a:avLst/>
          </a:prstGeom>
        </p:spPr>
      </p:pic>
      <p:pic>
        <p:nvPicPr>
          <p:cNvPr id="67" name="Picture 66" descr="picto_0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62350" y="2466975"/>
            <a:ext cx="242887" cy="276225"/>
          </a:xfrm>
          <a:prstGeom prst="rect">
            <a:avLst/>
          </a:prstGeom>
        </p:spPr>
      </p:pic>
      <p:pic>
        <p:nvPicPr>
          <p:cNvPr id="68" name="Picture 67" descr="picto_0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76687" y="2466975"/>
            <a:ext cx="242887" cy="276225"/>
          </a:xfrm>
          <a:prstGeom prst="rect">
            <a:avLst/>
          </a:prstGeom>
        </p:spPr>
      </p:pic>
      <p:pic>
        <p:nvPicPr>
          <p:cNvPr id="69" name="Picture 68" descr="picto_0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14975" y="2466975"/>
            <a:ext cx="242887" cy="276225"/>
          </a:xfrm>
          <a:prstGeom prst="rect">
            <a:avLst/>
          </a:prstGeom>
        </p:spPr>
      </p:pic>
      <p:pic>
        <p:nvPicPr>
          <p:cNvPr id="70" name="Picture 69" descr="picto_0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29312" y="2466975"/>
            <a:ext cx="242887" cy="276225"/>
          </a:xfrm>
          <a:prstGeom prst="rect">
            <a:avLst/>
          </a:prstGeom>
        </p:spPr>
      </p:pic>
      <p:pic>
        <p:nvPicPr>
          <p:cNvPr id="71" name="Picture 70" descr="picto_0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3650" y="2466975"/>
            <a:ext cx="242887" cy="276225"/>
          </a:xfrm>
          <a:prstGeom prst="rect">
            <a:avLst/>
          </a:prstGeom>
        </p:spPr>
      </p:pic>
      <p:pic>
        <p:nvPicPr>
          <p:cNvPr id="72" name="Picture 71" descr="picto_0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53225" y="2466975"/>
            <a:ext cx="242887" cy="276225"/>
          </a:xfrm>
          <a:prstGeom prst="rect">
            <a:avLst/>
          </a:prstGeom>
        </p:spPr>
      </p:pic>
      <p:pic>
        <p:nvPicPr>
          <p:cNvPr id="73" name="Picture 72" descr="picto_0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67562" y="2466975"/>
            <a:ext cx="242887" cy="276225"/>
          </a:xfrm>
          <a:prstGeom prst="rect">
            <a:avLst/>
          </a:prstGeom>
        </p:spPr>
      </p:pic>
      <p:pic>
        <p:nvPicPr>
          <p:cNvPr id="74" name="Picture 73" descr="picto_0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77137" y="2466975"/>
            <a:ext cx="242887" cy="276225"/>
          </a:xfrm>
          <a:prstGeom prst="rect">
            <a:avLst/>
          </a:prstGeom>
        </p:spPr>
      </p:pic>
      <p:pic>
        <p:nvPicPr>
          <p:cNvPr id="75" name="Picture 74" descr="picto_0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439525" y="5486400"/>
            <a:ext cx="276225" cy="2381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344216" y="82153"/>
            <a:ext cx="6055518" cy="43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40" b="1">
                <a:solidFill>
                  <a:srgbClr val="061B45"/>
                </a:solidFill>
                <a:latin typeface="Apple SD Gothic Neo"/>
                <a:ea typeface="Apple SD Gothic Neo"/>
                <a:cs typeface="Apple SD Gothic Neo"/>
              </a:rPr>
              <a:t>전남광주 초광역 공유플랫폼 통합인증서비스 구성도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8855" y="534293"/>
            <a:ext cx="4708326" cy="274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>
                <a:solidFill>
                  <a:srgbClr val="686868"/>
                </a:solidFill>
                <a:latin typeface="Apple SD Gothic Neo"/>
                <a:ea typeface="Apple SD Gothic Neo"/>
                <a:cs typeface="Apple SD Gothic Neo"/>
              </a:rPr>
              <a:t>소속대학 ID 하나로 전남광주 34개 대학 공유자원 이용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962" y="1179612"/>
            <a:ext cx="793551" cy="325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3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71365" y="1466552"/>
            <a:ext cx="910232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광주지역 대학생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47740" y="1466552"/>
            <a:ext cx="910232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전남지역 대학생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71777" y="1461790"/>
            <a:ext cx="457795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교직원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1477" y="1466552"/>
            <a:ext cx="462557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연구자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29240" y="1466552"/>
            <a:ext cx="910232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외국인 유학생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507" y="2383632"/>
            <a:ext cx="485774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80" b="1">
                <a:solidFill>
                  <a:srgbClr val="075DB8"/>
                </a:solidFill>
                <a:latin typeface="Apple SD Gothic Neo"/>
                <a:ea typeface="Apple SD Gothic Neo"/>
                <a:cs typeface="Apple SD Gothic Neo"/>
              </a:rPr>
              <a:t>IDP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53580" y="2167830"/>
            <a:ext cx="1546026" cy="2583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광주 17개 대학 IDP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74939" y="2493764"/>
            <a:ext cx="213121" cy="1500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...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03016" y="2845891"/>
            <a:ext cx="937617" cy="241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 연합인증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12506" y="2321719"/>
            <a:ext cx="347662" cy="466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20" b="1">
                <a:solidFill>
                  <a:srgbClr val="075DB8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06418" y="2167830"/>
            <a:ext cx="1546026" cy="2583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전남 17개 대학 IDP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99202" y="2493764"/>
            <a:ext cx="213121" cy="1500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...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89179" y="2845891"/>
            <a:ext cx="756642" cy="241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신규 확장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0836" y="3591223"/>
            <a:ext cx="737591" cy="308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30" b="1">
                <a:solidFill>
                  <a:srgbClr val="075DB8"/>
                </a:solidFill>
                <a:latin typeface="Apple SD Gothic Neo"/>
                <a:ea typeface="Apple SD Gothic Neo"/>
                <a:cs typeface="Apple SD Gothic Neo"/>
              </a:rPr>
              <a:t>통합인증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8961" y="3853161"/>
            <a:ext cx="480416" cy="308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30" b="1">
                <a:solidFill>
                  <a:srgbClr val="075DB8"/>
                </a:solidFill>
                <a:latin typeface="Apple SD Gothic Neo"/>
                <a:ea typeface="Apple SD Gothic Neo"/>
                <a:cs typeface="Apple SD Gothic Neo"/>
              </a:rPr>
              <a:t>코어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38673" y="3729336"/>
            <a:ext cx="1318616" cy="308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3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Discovery 서비스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92251" y="4106763"/>
            <a:ext cx="1549598" cy="2160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대학 선택 및 인증기관 탐지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9379" y="3730229"/>
            <a:ext cx="1312068" cy="300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89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SSO 인증엔진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59201" y="4106763"/>
            <a:ext cx="1568648" cy="2160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멀티도메인 단일 로그인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97254" y="3734991"/>
            <a:ext cx="1402555" cy="3000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89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ID-Federation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45176" y="4106763"/>
            <a:ext cx="1378148" cy="2160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연합인증 토큰 발급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3888" y="5114925"/>
            <a:ext cx="4953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E57B00"/>
                </a:solidFill>
                <a:latin typeface="Apple SD Gothic Neo"/>
                <a:ea typeface="Apple SD Gothic Neo"/>
                <a:cs typeface="Apple SD Gothic Neo"/>
              </a:rPr>
              <a:t>SP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56755" y="5447705"/>
            <a:ext cx="782240" cy="19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3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광주 RISE정보자원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42480" y="5633442"/>
            <a:ext cx="586977" cy="191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3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공유플랫폼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33415" y="5462290"/>
            <a:ext cx="834032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빛나래공유대학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84166" y="5436691"/>
            <a:ext cx="604242" cy="241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Study 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93679" y="5631954"/>
            <a:ext cx="770929" cy="241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Gwangju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52790" y="5462290"/>
            <a:ext cx="814982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공유연구장비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43415" y="5457527"/>
            <a:ext cx="1053107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공유교육프로그램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81665" y="5457527"/>
            <a:ext cx="772120" cy="22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202020"/>
                </a:solidFill>
                <a:latin typeface="Apple SD Gothic Neo"/>
                <a:ea typeface="Apple SD Gothic Neo"/>
                <a:cs typeface="Apple SD Gothic Neo"/>
              </a:rPr>
              <a:t>취·창업정보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67640" y="980777"/>
            <a:ext cx="1272182" cy="225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통합인증 핵심코어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34327" y="1247477"/>
            <a:ext cx="943570" cy="225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오픈소스 활용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17361" y="2044898"/>
            <a:ext cx="901303" cy="516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1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69711" y="2544961"/>
            <a:ext cx="1387078" cy="516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91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사업화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50624" y="3826074"/>
            <a:ext cx="334565" cy="3833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6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40826" y="4259164"/>
            <a:ext cx="1692473" cy="349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" b="1">
                <a:solidFill>
                  <a:srgbClr val="061B45"/>
                </a:solidFill>
                <a:latin typeface="Apple SD Gothic Neo"/>
                <a:ea typeface="Apple SD Gothic Neo"/>
                <a:cs typeface="Apple SD Gothic Neo"/>
              </a:rPr>
              <a:t>전남/광주 기업과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74176" y="4654451"/>
            <a:ext cx="1411485" cy="349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" b="1">
                <a:solidFill>
                  <a:srgbClr val="061B45"/>
                </a:solidFill>
                <a:latin typeface="Apple SD Gothic Neo"/>
                <a:ea typeface="Apple SD Gothic Neo"/>
                <a:cs typeface="Apple SD Gothic Neo"/>
              </a:rPr>
              <a:t>대학에 공유하여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97976" y="5044976"/>
            <a:ext cx="1578173" cy="349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20" b="1">
                <a:solidFill>
                  <a:srgbClr val="061B45"/>
                </a:solidFill>
                <a:latin typeface="Apple SD Gothic Neo"/>
                <a:ea typeface="Apple SD Gothic Neo"/>
                <a:cs typeface="Apple SD Gothic Neo"/>
              </a:rPr>
              <a:t>기술사업화에 활용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436549" y="5421511"/>
            <a:ext cx="334565" cy="3833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160" b="1">
                <a:solidFill>
                  <a:srgbClr val="008C8C"/>
                </a:solidFill>
                <a:latin typeface="Apple SD Gothic Neo"/>
                <a:ea typeface="Apple SD Gothic Neo"/>
                <a:cs typeface="Apple SD Gothic Neo"/>
              </a:rPr>
              <a:t>”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6345" y="6285608"/>
            <a:ext cx="7836097" cy="2827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061B45"/>
                </a:solidFill>
                <a:latin typeface="Apple SD Gothic Neo"/>
                <a:ea typeface="Apple SD Gothic Neo"/>
                <a:cs typeface="Apple SD Gothic Neo"/>
              </a:rPr>
              <a:t>핵심 : 소속대학 ID 하나로 모든 서비스 이용 가능 — 전남광주 지역대학 연합인증(ID-Federation)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